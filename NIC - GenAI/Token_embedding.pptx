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c90945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c909452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2c90945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2c90945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c909452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c9094524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c909452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c909452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2c909452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2c9094524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2c909452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2c909452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aedad9db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aedad9db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aedad9db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aedad9db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aedad9db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aedad9db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aedad9db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aedad9db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idemos.meta.com/segment-anything/gallery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log.roboflow.com/segment-anything-breakdown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Token Embeddings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Why </a:t>
            </a:r>
            <a:r>
              <a:rPr lang="en" sz="2500" b="1"/>
              <a:t>token embeddings</a:t>
            </a:r>
            <a:r>
              <a:rPr lang="en" sz="2500"/>
              <a:t>, not word embeddings?</a:t>
            </a:r>
            <a:endParaRPr sz="250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Problem with word-level embeddings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If we embed </a:t>
            </a:r>
            <a:r>
              <a:rPr lang="en" sz="1500" b="1">
                <a:solidFill>
                  <a:schemeClr val="dk1"/>
                </a:solidFill>
              </a:rPr>
              <a:t>full words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marL="457200" lvl="0" indent="-302418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Huge vocabulary (millions of words)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457200" lvl="0" indent="-30241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Cannot handle </a:t>
            </a:r>
            <a:r>
              <a:rPr lang="en" sz="1500" b="1">
                <a:solidFill>
                  <a:schemeClr val="dk1"/>
                </a:solidFill>
              </a:rPr>
              <a:t>unknown words (OOV)</a:t>
            </a:r>
            <a:br>
              <a:rPr lang="en" sz="1500" b="1">
                <a:solidFill>
                  <a:schemeClr val="dk1"/>
                </a:solidFill>
              </a:rPr>
            </a:br>
            <a:endParaRPr sz="1500" b="1">
              <a:solidFill>
                <a:schemeClr val="dk1"/>
              </a:solidFill>
            </a:endParaRPr>
          </a:p>
          <a:p>
            <a:pPr marL="457200" lvl="0" indent="-30241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500">
                <a:solidFill>
                  <a:schemeClr val="dk1"/>
                </a:solidFill>
              </a:rPr>
              <a:t>Poor handling of: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914400" lvl="1" indent="-30241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Rare words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marL="914400" lvl="1" indent="-30241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1500">
                <a:solidFill>
                  <a:schemeClr val="dk1"/>
                </a:solidFill>
              </a:rPr>
              <a:t>Morphology (running, runs, runner)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Solution → Sub-word tokenization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Break words into </a:t>
            </a:r>
            <a:r>
              <a:rPr lang="en" sz="1500" b="1">
                <a:solidFill>
                  <a:schemeClr val="dk1"/>
                </a:solidFill>
              </a:rPr>
              <a:t>meaningful pieces</a:t>
            </a:r>
            <a:r>
              <a:rPr lang="en" sz="1500">
                <a:solidFill>
                  <a:schemeClr val="dk1"/>
                </a:solidFill>
              </a:rPr>
              <a:t> that can be reused.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438" y="1280025"/>
            <a:ext cx="24669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 embedding in transformers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 </a:t>
            </a:r>
            <a:r>
              <a:rPr lang="en" sz="1100" b="1">
                <a:solidFill>
                  <a:schemeClr val="dk1"/>
                </a:solidFill>
              </a:rPr>
              <a:t>token embedding</a:t>
            </a:r>
            <a:r>
              <a:rPr lang="en" sz="1100">
                <a:solidFill>
                  <a:schemeClr val="dk1"/>
                </a:solidFill>
              </a:rPr>
              <a:t> is a </a:t>
            </a:r>
            <a:r>
              <a:rPr lang="en" sz="1100" b="1">
                <a:solidFill>
                  <a:schemeClr val="dk1"/>
                </a:solidFill>
              </a:rPr>
              <a:t>dense vector representation of a sub-word token</a:t>
            </a:r>
            <a:r>
              <a:rPr lang="en" sz="1100">
                <a:solidFill>
                  <a:schemeClr val="dk1"/>
                </a:solidFill>
              </a:rPr>
              <a:t>, not necessarily a full word.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Each token gets its </a:t>
            </a:r>
            <a:r>
              <a:rPr lang="en" sz="1100" b="1">
                <a:solidFill>
                  <a:schemeClr val="dk1"/>
                </a:solidFill>
              </a:rPr>
              <a:t>own embedding vector</a:t>
            </a:r>
            <a:r>
              <a:rPr lang="en" sz="1100">
                <a:solidFill>
                  <a:schemeClr val="dk1"/>
                </a:solidFill>
              </a:rPr>
              <a:t>, learned during training.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Key advantages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✔ Handles unknown words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✔ Reduces vocabulary size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✔ Learns morphology and semantics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✔ Language independent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✔ Works well for technical &amp; rare terms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Popular Sub-word tokenization method: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BPE (Byte Pair Encoding) -&gt; </a:t>
            </a:r>
            <a:r>
              <a:rPr lang="en" sz="1100">
                <a:solidFill>
                  <a:schemeClr val="dk1"/>
                </a:solidFill>
              </a:rPr>
              <a:t>Used in: </a:t>
            </a:r>
            <a:r>
              <a:rPr lang="en" sz="1100" b="1">
                <a:solidFill>
                  <a:schemeClr val="dk1"/>
                </a:solidFill>
              </a:rPr>
              <a:t>GPT, RoBERTa, LLaMA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100" b="1">
                <a:solidFill>
                  <a:schemeClr val="dk1"/>
                </a:solidFill>
              </a:rPr>
              <a:t>Wordpiece -&gt; </a:t>
            </a:r>
            <a:r>
              <a:rPr lang="en" sz="1100">
                <a:solidFill>
                  <a:schemeClr val="dk1"/>
                </a:solidFill>
              </a:rPr>
              <a:t>Used in: Bert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5898" y="1926650"/>
            <a:ext cx="2622000" cy="10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Byte Pair Encoding - BPE - Used in GPT, Llama, etc.,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79600" cy="3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080">
                <a:solidFill>
                  <a:schemeClr val="dk1"/>
                </a:solidFill>
              </a:rPr>
              <a:t>BPE is a text tokenization method, that breaks words into common subword units by repeatedly merging the most frequent adjacent characters or symbols.</a:t>
            </a:r>
            <a:endParaRPr sz="1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endParaRPr sz="1080"/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" sz="1080" b="1">
                <a:solidFill>
                  <a:schemeClr val="dk1"/>
                </a:solidFill>
              </a:rPr>
              <a:t>How BPE works (intuitively)</a:t>
            </a:r>
            <a:endParaRPr sz="1080" b="1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80"/>
              <a:buAutoNum type="arabicPeriod"/>
            </a:pPr>
            <a:r>
              <a:rPr lang="en" sz="1080">
                <a:solidFill>
                  <a:schemeClr val="dk1"/>
                </a:solidFill>
              </a:rPr>
              <a:t>Start with characters</a:t>
            </a:r>
            <a:br>
              <a:rPr lang="en" sz="1080">
                <a:solidFill>
                  <a:schemeClr val="dk1"/>
                </a:solidFill>
              </a:rPr>
            </a:br>
            <a:endParaRPr sz="1080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AutoNum type="arabicPeriod"/>
            </a:pPr>
            <a:r>
              <a:rPr lang="en" sz="1080">
                <a:solidFill>
                  <a:schemeClr val="dk1"/>
                </a:solidFill>
              </a:rPr>
              <a:t>Repeatedly merge the </a:t>
            </a:r>
            <a:r>
              <a:rPr lang="en" sz="1080" b="1">
                <a:solidFill>
                  <a:schemeClr val="dk1"/>
                </a:solidFill>
              </a:rPr>
              <a:t>most frequent character pairs</a:t>
            </a:r>
            <a:br>
              <a:rPr lang="en" sz="1080" b="1">
                <a:solidFill>
                  <a:schemeClr val="dk1"/>
                </a:solidFill>
              </a:rPr>
            </a:br>
            <a:endParaRPr sz="1080" b="1">
              <a:solidFill>
                <a:schemeClr val="dk1"/>
              </a:solidFill>
            </a:endParaRPr>
          </a:p>
          <a:p>
            <a:pPr marL="457200" lvl="0" indent="-29718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AutoNum type="arabicPeriod"/>
            </a:pPr>
            <a:r>
              <a:rPr lang="en" sz="1080">
                <a:solidFill>
                  <a:schemeClr val="dk1"/>
                </a:solidFill>
              </a:rPr>
              <a:t>Stop when vocabulary size is reached</a:t>
            </a:r>
            <a:endParaRPr sz="1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080" b="1">
                <a:solidFill>
                  <a:schemeClr val="dk1"/>
                </a:solidFill>
              </a:rPr>
              <a:t>Note:</a:t>
            </a:r>
            <a:endParaRPr sz="108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080">
                <a:solidFill>
                  <a:schemeClr val="dk1"/>
                </a:solidFill>
              </a:rPr>
              <a:t>Initial Vocabulary: { l, o, w, e, r, n, i, g, &lt;/w&gt; } → size = 9</a:t>
            </a:r>
            <a:endParaRPr sz="1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080">
                <a:solidFill>
                  <a:schemeClr val="dk1"/>
                </a:solidFill>
              </a:rPr>
              <a:t>Eg. target_size: 13</a:t>
            </a:r>
            <a:endParaRPr sz="1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080">
                <a:solidFill>
                  <a:schemeClr val="dk1"/>
                </a:solidFill>
              </a:rPr>
              <a:t>Number of merges = target_size - initial_size =&gt; 13-9 = 4 (so totally 4 merges are possible) -&gt; { l, o, w, e, r, n, i, g, &lt;/w&gt;, lo, low, er, in }</a:t>
            </a:r>
            <a:endParaRPr sz="1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080">
                <a:solidFill>
                  <a:schemeClr val="dk1"/>
                </a:solidFill>
              </a:rPr>
              <a:t>Vocabulary size: 30K   [</a:t>
            </a:r>
            <a:r>
              <a:rPr lang="en" sz="1100">
                <a:solidFill>
                  <a:schemeClr val="dk1"/>
                </a:solidFill>
              </a:rPr>
              <a:t>number of </a:t>
            </a:r>
            <a:r>
              <a:rPr lang="en" sz="1100" b="1">
                <a:solidFill>
                  <a:schemeClr val="dk1"/>
                </a:solidFill>
              </a:rPr>
              <a:t>tokens</a:t>
            </a:r>
            <a:r>
              <a:rPr lang="en" sz="1100">
                <a:solidFill>
                  <a:schemeClr val="dk1"/>
                </a:solidFill>
              </a:rPr>
              <a:t> (characters + subwords)] (In Llama ~ vocabulary size is 32k ) - To handle memory, speed in effectiveway</a:t>
            </a:r>
            <a:endParaRPr sz="1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endParaRPr sz="108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08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6973" y="1874468"/>
            <a:ext cx="2595575" cy="1671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Step-by-Step with a tiny 4-word corpus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dk1"/>
                </a:solidFill>
              </a:rPr>
              <a:t>Let our training corpus be just 4 words: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 dirty="0">
                <a:solidFill>
                  <a:schemeClr val="dk1"/>
                </a:solidFill>
              </a:rPr>
              <a:t>Start with character level tokens - BPE always starts with tokens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 dirty="0">
                <a:solidFill>
                  <a:schemeClr val="dk1"/>
                </a:solidFill>
              </a:rPr>
              <a:t>Count frequency of adjacent pairs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 dirty="0">
                <a:solidFill>
                  <a:schemeClr val="dk1"/>
                </a:solidFill>
              </a:rPr>
              <a:t>Merge the most frequent pairs - pick one of the high-frequency pair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 dirty="0">
                <a:solidFill>
                  <a:schemeClr val="dk1"/>
                </a:solidFill>
              </a:rPr>
              <a:t>Apply the merge everywhere and include with vocabulary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" sz="1300" dirty="0">
                <a:solidFill>
                  <a:schemeClr val="dk1"/>
                </a:solidFill>
              </a:rPr>
              <a:t>Repeat this process and stop when vocabulary size is reached. -&gt; {l,o,w,n,e,r’,&lt;/w&gt;,lo,low,er,ne,new}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300" dirty="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943925"/>
            <a:ext cx="817975" cy="129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650" y="3091562"/>
            <a:ext cx="1691050" cy="1002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5400" y="2864300"/>
            <a:ext cx="964150" cy="44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2625" y="3418696"/>
            <a:ext cx="1691050" cy="8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10150" y="4462675"/>
            <a:ext cx="1935994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68675" y="2864300"/>
            <a:ext cx="964150" cy="30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68675" y="3307975"/>
            <a:ext cx="1589381" cy="8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24725" y="2864300"/>
            <a:ext cx="859154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226625" y="3307975"/>
            <a:ext cx="1365750" cy="69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26625" y="4122225"/>
            <a:ext cx="652602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224732" y="4462675"/>
            <a:ext cx="1127392" cy="6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Tokenizing the new token word (never seen before)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word: lowering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Start with characters: l o w e r i n g &lt;/w&gt;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Applying the training learned merges: “low” “er” “i” “n” “g” &lt;/w&gt;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Final token: ["low", "er", "i", "n", "g"]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So,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OOV problem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Reuses known subwords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WordPiece Tokenization - Used in BERT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Choose sub-words that </a:t>
            </a:r>
            <a:r>
              <a:rPr lang="en" sz="1152" b="1" dirty="0">
                <a:solidFill>
                  <a:schemeClr val="dk1"/>
                </a:solidFill>
              </a:rPr>
              <a:t>maximize likelihood</a:t>
            </a:r>
            <a:r>
              <a:rPr lang="en" sz="1152" dirty="0">
                <a:solidFill>
                  <a:schemeClr val="dk1"/>
                </a:solidFill>
              </a:rPr>
              <a:t> of training data.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using a '##' prefix to denote subwords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The learning strategy of Wordpiece is quite similar of BPE but the way of calculating the token is different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b="1" dirty="0">
                <a:solidFill>
                  <a:schemeClr val="dk1"/>
                </a:solidFill>
              </a:rPr>
              <a:t>Example:</a:t>
            </a:r>
            <a:endParaRPr sz="1152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Corpus: [lowest, lower]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Initial vocabulary: {l, ##o, ##w, ##e,  ##s, ##t, ##r}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2" dirty="0">
                <a:solidFill>
                  <a:schemeClr val="dk1"/>
                </a:solidFill>
              </a:rPr>
              <a:t>1. Initial split: {l, ##o, ##w, ##e,  ##s, ##t, ##r}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2. Compute pair score: 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{l, ##o}  -&gt; “lo” pair freq. Is 2 times and “l” freq is 2 and “o” freq is 2 → The same process will happen for other pairs (ow, we,es,st, er)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3. Now the updated vocabulary is:{l, ##o, ##w, ##e,  ##s, ##t, ##r, lo}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152" dirty="0">
                <a:solidFill>
                  <a:schemeClr val="dk1"/>
                </a:solidFill>
              </a:rPr>
              <a:t>4. Now the updated split  is: {#lo #w #e #s #t, #lo #w #e #r} -&gt; Repeat the steps from 2 to 4 again</a:t>
            </a:r>
            <a:endParaRPr sz="1152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852"/>
              <a:buFont typeface="Arial"/>
              <a:buNone/>
            </a:pPr>
            <a:endParaRPr sz="1152" dirty="0">
              <a:solidFill>
                <a:schemeClr val="dk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2403" y="3585500"/>
            <a:ext cx="2530358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- Segment Anything Model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SAM (Segment Anything Model)</a:t>
            </a:r>
            <a:r>
              <a:rPr lang="en" sz="1100">
                <a:solidFill>
                  <a:schemeClr val="dk1"/>
                </a:solidFill>
              </a:rPr>
              <a:t> is a </a:t>
            </a:r>
            <a:r>
              <a:rPr lang="en" sz="1100" b="1">
                <a:solidFill>
                  <a:schemeClr val="dk1"/>
                </a:solidFill>
              </a:rPr>
              <a:t>foundation model for image segmentation</a:t>
            </a:r>
            <a:r>
              <a:rPr lang="en" sz="1100">
                <a:solidFill>
                  <a:schemeClr val="dk1"/>
                </a:solidFill>
              </a:rPr>
              <a:t> developed by </a:t>
            </a:r>
            <a:r>
              <a:rPr lang="en" sz="1100" b="1">
                <a:solidFill>
                  <a:schemeClr val="dk1"/>
                </a:solidFill>
              </a:rPr>
              <a:t>Meta AI (Facebook AI Research)</a:t>
            </a:r>
            <a:r>
              <a:rPr lang="en" sz="1100">
                <a:solidFill>
                  <a:schemeClr val="dk1"/>
                </a:solidFill>
              </a:rPr>
              <a:t> in 2023.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It is designed to </a:t>
            </a:r>
            <a:r>
              <a:rPr lang="en" sz="1100" b="1">
                <a:solidFill>
                  <a:schemeClr val="dk1"/>
                </a:solidFill>
              </a:rPr>
              <a:t>segment </a:t>
            </a:r>
            <a:r>
              <a:rPr lang="en" sz="1100" b="1" i="1">
                <a:solidFill>
                  <a:schemeClr val="dk1"/>
                </a:solidFill>
              </a:rPr>
              <a:t>any</a:t>
            </a:r>
            <a:r>
              <a:rPr lang="en" sz="1100" b="1">
                <a:solidFill>
                  <a:schemeClr val="dk1"/>
                </a:solidFill>
              </a:rPr>
              <a:t> object in an image</a:t>
            </a:r>
            <a:r>
              <a:rPr lang="en" sz="1100">
                <a:solidFill>
                  <a:schemeClr val="dk1"/>
                </a:solidFill>
              </a:rPr>
              <a:t> with </a:t>
            </a:r>
            <a:r>
              <a:rPr lang="en" sz="1100" b="1">
                <a:solidFill>
                  <a:schemeClr val="dk1"/>
                </a:solidFill>
              </a:rPr>
              <a:t>minimal human input</a:t>
            </a:r>
            <a:r>
              <a:rPr lang="en" sz="1100">
                <a:solidFill>
                  <a:schemeClr val="dk1"/>
                </a:solidFill>
              </a:rPr>
              <a:t>, making segmentation </a:t>
            </a:r>
            <a:r>
              <a:rPr lang="en" sz="1100" b="1">
                <a:solidFill>
                  <a:schemeClr val="dk1"/>
                </a:solidFill>
              </a:rPr>
              <a:t>promptable, general-purpose, and reusable across domains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1. What problem does SAM solve?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Traditional segmentation models:</a:t>
            </a: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Are trained for </a:t>
            </a:r>
            <a:r>
              <a:rPr lang="en" sz="1100" b="1">
                <a:solidFill>
                  <a:schemeClr val="dk1"/>
                </a:solidFill>
              </a:rPr>
              <a:t>specific datasets</a:t>
            </a:r>
            <a:r>
              <a:rPr lang="en" sz="1100">
                <a:solidFill>
                  <a:schemeClr val="dk1"/>
                </a:solidFill>
              </a:rPr>
              <a:t> (medical, satellite, driving, etc.)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Need </a:t>
            </a:r>
            <a:r>
              <a:rPr lang="en" sz="1100" b="1">
                <a:solidFill>
                  <a:schemeClr val="dk1"/>
                </a:solidFill>
              </a:rPr>
              <a:t>task-specific fine-tuning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8273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100">
                <a:solidFill>
                  <a:schemeClr val="dk1"/>
                </a:solidFill>
              </a:rPr>
              <a:t>Fail on unseen object categories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SAM changes this</a:t>
            </a:r>
            <a:r>
              <a:rPr lang="en" sz="1100">
                <a:solidFill>
                  <a:schemeClr val="dk1"/>
                </a:solidFill>
              </a:rPr>
              <a:t> by acting like:</a:t>
            </a:r>
            <a:endParaRPr sz="1100">
              <a:solidFill>
                <a:schemeClr val="dk1"/>
              </a:solidFill>
            </a:endParaRPr>
          </a:p>
          <a:p>
            <a:pPr marL="38100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“GPT for image segmentation”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Once trained, it can segment </a:t>
            </a:r>
            <a:r>
              <a:rPr lang="en" sz="1100" b="1">
                <a:solidFill>
                  <a:schemeClr val="dk1"/>
                </a:solidFill>
              </a:rPr>
              <a:t>unknown objects</a:t>
            </a:r>
            <a:r>
              <a:rPr lang="en" sz="1100">
                <a:solidFill>
                  <a:schemeClr val="dk1"/>
                </a:solidFill>
              </a:rPr>
              <a:t> without retraining.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675" y="2091853"/>
            <a:ext cx="3989626" cy="159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Segment Anything Model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Training data behind SAM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Trained on </a:t>
            </a:r>
            <a:r>
              <a:rPr lang="en" sz="1200" b="1">
                <a:solidFill>
                  <a:schemeClr val="dk1"/>
                </a:solidFill>
              </a:rPr>
              <a:t>SA-1B dataset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</a:rPr>
              <a:t>1 billion masks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 b="1">
                <a:solidFill>
                  <a:schemeClr val="dk1"/>
                </a:solidFill>
              </a:rPr>
              <a:t>11 million images</a:t>
            </a:r>
            <a:endParaRPr sz="1200" b="1"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Largest segmentation dataset ever created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This massive scale gives SAM its </a:t>
            </a:r>
            <a:r>
              <a:rPr lang="en" sz="1200" b="1">
                <a:solidFill>
                  <a:schemeClr val="dk1"/>
                </a:solidFill>
              </a:rPr>
              <a:t>strong generalization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Advantages: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✅ Zero-shot segmentation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✅ Works on unseen object categories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✅ No task-specific fine-tuning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✅ Interactive and fast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✅ Can generate </a:t>
            </a:r>
            <a:r>
              <a:rPr lang="en" sz="1200" b="1">
                <a:solidFill>
                  <a:schemeClr val="dk1"/>
                </a:solidFill>
              </a:rPr>
              <a:t>multiple mask proposals</a:t>
            </a:r>
            <a:endParaRPr sz="1200"/>
          </a:p>
        </p:txBody>
      </p:sp>
      <p:sp>
        <p:nvSpPr>
          <p:cNvPr id="120" name="Google Shape;120;p21"/>
          <p:cNvSpPr txBox="1"/>
          <p:nvPr/>
        </p:nvSpPr>
        <p:spPr>
          <a:xfrm>
            <a:off x="5097400" y="1227650"/>
            <a:ext cx="361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https://aidemos.meta.com/segment-anything/gallery/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5097400" y="2392200"/>
            <a:ext cx="3612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https://blog.roboflow.com/segment-anything-breakdown/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CLIP - Contrastive Language-Image Pre-training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CLIP (Contrastive Language–Image Pretraining)</a:t>
            </a:r>
            <a:r>
              <a:rPr lang="en" sz="1100">
                <a:solidFill>
                  <a:schemeClr val="dk1"/>
                </a:solidFill>
              </a:rPr>
              <a:t> is a </a:t>
            </a:r>
            <a:r>
              <a:rPr lang="en" sz="1100" b="1">
                <a:solidFill>
                  <a:schemeClr val="dk1"/>
                </a:solidFill>
              </a:rPr>
              <a:t>multimodal foundation model</a:t>
            </a:r>
            <a:r>
              <a:rPr lang="en" sz="1100">
                <a:solidFill>
                  <a:schemeClr val="dk1"/>
                </a:solidFill>
              </a:rPr>
              <a:t> developed by </a:t>
            </a:r>
            <a:r>
              <a:rPr lang="en" sz="1100" b="1">
                <a:solidFill>
                  <a:schemeClr val="dk1"/>
                </a:solidFill>
              </a:rPr>
              <a:t>OpenAI</a:t>
            </a:r>
            <a:r>
              <a:rPr lang="en" sz="1100">
                <a:solidFill>
                  <a:schemeClr val="dk1"/>
                </a:solidFill>
              </a:rPr>
              <a:t> that learns to </a:t>
            </a:r>
            <a:r>
              <a:rPr lang="en" sz="1100" b="1">
                <a:solidFill>
                  <a:schemeClr val="dk1"/>
                </a:solidFill>
              </a:rPr>
              <a:t>connect images and natural language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In simple terms:</a:t>
            </a:r>
            <a:endParaRPr sz="1100">
              <a:solidFill>
                <a:schemeClr val="dk1"/>
              </a:solidFill>
            </a:endParaRPr>
          </a:p>
          <a:p>
            <a:pPr marL="381000" marR="3810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CLIP understands images by reading text, and understands text by looking at images.</a:t>
            </a:r>
            <a:endParaRPr sz="1100" b="1">
              <a:solidFill>
                <a:schemeClr val="dk1"/>
              </a:solidFill>
            </a:endParaRPr>
          </a:p>
          <a:p>
            <a:pPr marL="381000" marR="3810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1️⃣ Image Encoder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CNN (ResNet) </a:t>
            </a:r>
            <a:r>
              <a:rPr lang="en" sz="1100" b="1">
                <a:solidFill>
                  <a:schemeClr val="dk1"/>
                </a:solidFill>
              </a:rPr>
              <a:t>or</a:t>
            </a:r>
            <a:r>
              <a:rPr lang="en" sz="1100">
                <a:solidFill>
                  <a:schemeClr val="dk1"/>
                </a:solidFill>
              </a:rPr>
              <a:t> Vision Transformer (ViT)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2️⃣ Text Encoder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Transformer-based language model -BERT or GPT-2</a:t>
            </a:r>
            <a:endParaRPr b="1"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9875" y="2492500"/>
            <a:ext cx="4123075" cy="2721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CLIP - Contrastive Language-Image Pre-Training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25" y="1654150"/>
            <a:ext cx="4619976" cy="24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6600" y="1893350"/>
            <a:ext cx="3518525" cy="177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Microsoft Office PowerPoint</Application>
  <PresentationFormat>On-screen Show (16:9)</PresentationFormat>
  <Paragraphs>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Token Embeddings</vt:lpstr>
      <vt:lpstr>Why token embeddings, not word embeddings?</vt:lpstr>
      <vt:lpstr>Token embedding in transformers</vt:lpstr>
      <vt:lpstr>Byte Pair Encoding - BPE - Used in GPT, Llama, etc.,</vt:lpstr>
      <vt:lpstr>Step-by-Step with a tiny 4-word corpus</vt:lpstr>
      <vt:lpstr>Tokenizing the new token word (never seen before)</vt:lpstr>
      <vt:lpstr>WordPiece Tokenization - Used in BERT</vt:lpstr>
      <vt:lpstr>SAM - Segment Anything Model</vt:lpstr>
      <vt:lpstr>Segment Anything Model</vt:lpstr>
      <vt:lpstr>CLIP - Contrastive Language-Image Pre-training</vt:lpstr>
      <vt:lpstr>CLIP - Contrastive Language-Image Pre-Training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Jai Ganesh Suresh</cp:lastModifiedBy>
  <cp:revision>1</cp:revision>
  <dcterms:modified xsi:type="dcterms:W3CDTF">2026-01-29T19:00:24Z</dcterms:modified>
</cp:coreProperties>
</file>